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Plus Jakarta Sans"/>
      <p:bold r:id="rId18"/>
    </p:embeddedFont>
    <p:embeddedFont>
      <p:font typeface="Space Grotesk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301430"/>
            <a:ext cx="809625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301430"/>
            <a:ext cx="80962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1" y="2156519"/>
            <a:ext cx="6736080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 dirty="0">
                <a:solidFill>
                  <a:srgbClr val="FFFFFF"/>
                </a:solidFill>
                <a:latin typeface="Plus Jakarta Sans"/>
              </a:rPr>
              <a:t>Data Analyst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58480"/>
            <a:ext cx="6197851" cy="271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chemeClr val="bg1"/>
                </a:solidFill>
                <a:latin typeface="Plus Jakarta Sans"/>
              </a:rPr>
              <a:t>Global Technology Trends, Compensation Benchmarks &amp; Ecosystem Trajectories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615755"/>
            <a:ext cx="15954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PREPARED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796730"/>
            <a:ext cx="1595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Christian Chiari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9350" y="4615755"/>
            <a:ext cx="1857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9350" y="4796730"/>
            <a:ext cx="185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October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744860"/>
            <a:ext cx="3429000" cy="1323975"/>
          </a:xfrm>
          <a:prstGeom prst="roundRect">
            <a:avLst>
              <a:gd name="adj" fmla="val 11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1744860"/>
            <a:ext cx="3429000" cy="1323975"/>
          </a:xfrm>
          <a:prstGeom prst="roundRect">
            <a:avLst>
              <a:gd name="adj" fmla="val 11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01000" y="1744860"/>
            <a:ext cx="3429000" cy="1323975"/>
          </a:xfrm>
          <a:prstGeom prst="roundRect">
            <a:avLst>
              <a:gd name="adj" fmla="val 11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259335"/>
            <a:ext cx="3429000" cy="1323975"/>
          </a:xfrm>
          <a:prstGeom prst="roundRect">
            <a:avLst>
              <a:gd name="adj" fmla="val 11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1500" y="3259335"/>
            <a:ext cx="3429000" cy="1323975"/>
          </a:xfrm>
          <a:prstGeom prst="roundRect">
            <a:avLst>
              <a:gd name="adj" fmla="val 11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01000" y="3259335"/>
            <a:ext cx="3429000" cy="1323975"/>
          </a:xfrm>
          <a:prstGeom prst="roundRect">
            <a:avLst>
              <a:gd name="adj" fmla="val 11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2000" y="4773810"/>
            <a:ext cx="3429000" cy="1323975"/>
          </a:xfrm>
          <a:prstGeom prst="roundRect">
            <a:avLst>
              <a:gd name="adj" fmla="val 11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1500" y="4773810"/>
            <a:ext cx="3429000" cy="1323975"/>
          </a:xfrm>
          <a:prstGeom prst="roundRect">
            <a:avLst>
              <a:gd name="adj" fmla="val 11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01000" y="4773810"/>
            <a:ext cx="3429000" cy="1323975"/>
          </a:xfrm>
          <a:prstGeom prst="roundRect">
            <a:avLst>
              <a:gd name="adj" fmla="val 11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AGENDA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Presentation Outline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2021085"/>
            <a:ext cx="3595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234493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2621160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Key findings &amp; strategic takeaways.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2021085"/>
            <a:ext cx="3595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234493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725" y="2621160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Purpose, target audience &amp; value.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7225" y="2021085"/>
            <a:ext cx="3595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7225" y="234493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7225" y="2621160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Sources, API collection &amp; wrangling.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225" y="3535560"/>
            <a:ext cx="3595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225" y="3859410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Jobs &amp; Salaries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225" y="4135635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Job postings &amp; scraped salary charts.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7725" y="3535560"/>
            <a:ext cx="3595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7725" y="3859410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Language Trends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7725" y="4135635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Current usage vs next-year desire.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7225" y="3535560"/>
            <a:ext cx="3595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7225" y="3859410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Database Trends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7225" y="4135635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Current usage vs next-year desire.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5" y="5050035"/>
            <a:ext cx="3595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537388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Interactive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225" y="5650110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Multi-tab overview &amp; visualizations.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57725" y="5050035"/>
            <a:ext cx="3595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57725" y="537388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Discussion &amp; Findings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57725" y="5650110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Overall synthesis &amp; implications.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7225" y="5050035"/>
            <a:ext cx="3595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7225" y="537388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Conclusion &amp; Appendix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7225" y="5650110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Final conclusions &amp; data references.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44935"/>
            <a:ext cx="3403550" cy="3114675"/>
          </a:xfrm>
          <a:prstGeom prst="roundRect">
            <a:avLst>
              <a:gd name="adj" fmla="val 48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344935"/>
            <a:ext cx="3403550" cy="3114675"/>
          </a:xfrm>
          <a:prstGeom prst="roundRect">
            <a:avLst>
              <a:gd name="adj" fmla="val 48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459235"/>
            <a:ext cx="3403550" cy="2886075"/>
          </a:xfrm>
          <a:prstGeom prst="roundRect">
            <a:avLst>
              <a:gd name="adj" fmla="val 52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621160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2621160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2735460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Core Findings &amp; Market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040260"/>
            <a:ext cx="37420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01. Python &amp; TypeScript Surge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375" y="3040260"/>
            <a:ext cx="37420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02. PostgreSQL Dominance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525" y="3154560"/>
            <a:ext cx="37420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03. Demographics &amp;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392685"/>
            <a:ext cx="2946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Python Momentum: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Rises to #1 most desired language next year (52.4%).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945135"/>
            <a:ext cx="2946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High Demand: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Dominates job listings with 14,560 open postings via API.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497585"/>
            <a:ext cx="2946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Web Modernization: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TypeScript adoption expands rapidly for scalable frontend systems.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0375" y="3392685"/>
            <a:ext cx="2946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Relational Shift: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Overtakes MySQL as the #1 desired database engine (41.2%).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0375" y="3945135"/>
            <a:ext cx="2946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NoSQL Growth: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MongoDB and Redis capture top non-relational demand.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375" y="4497585"/>
            <a:ext cx="2946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Commercial Decline: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Traditional enterprise engines show flat or shrinking interest.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525" y="3506985"/>
            <a:ext cx="2946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Age Distribution: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Over 70% of developer respondents are under 35 years 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525" y="4059435"/>
            <a:ext cx="2946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Continuous Learning: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High percentage of self-taught upskilling via online tools.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525" y="4611885"/>
            <a:ext cx="2946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Compensation Premium: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Swift ($125k) and Python ($118k) yield highest salaries.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840110"/>
            <a:ext cx="10668000" cy="1247775"/>
          </a:xfrm>
          <a:prstGeom prst="roundRect">
            <a:avLst>
              <a:gd name="adj" fmla="val 122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278385"/>
            <a:ext cx="10668000" cy="1247775"/>
          </a:xfrm>
          <a:prstGeom prst="roundRect">
            <a:avLst>
              <a:gd name="adj" fmla="val 122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716660"/>
            <a:ext cx="10668000" cy="1247775"/>
          </a:xfrm>
          <a:prstGeom prst="roundRect">
            <a:avLst>
              <a:gd name="adj" fmla="val 122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159198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597473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5035748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" y="2330648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337" y="3768923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5" y="5207198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PROJECT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Introduction: Purpose, Audience &amp;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116335"/>
            <a:ext cx="10239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Purpose of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2625" y="2411610"/>
            <a:ext cx="9296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To evaluate global developer survey data and job posting metrics in order to identify emerging technology stack trends, salary benchmarks, and language transition patterns across enterprise IT ecosystems.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2625" y="3554610"/>
            <a:ext cx="10239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Target 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2625" y="3849885"/>
            <a:ext cx="9296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Engineering Leaders planning tech roadmaps, HR Talent Acquisition Teams optimizing recruitment strategies, and Data Analysts benchmarking industry skills for competitive advantage.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4992885"/>
            <a:ext cx="10239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Value of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2625" y="5288160"/>
            <a:ext cx="9296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Delivers empirical, data-driven intelligence combining ~90,000 survey responses with real-time job market counts and web-scraped compensation data to de-risk engineering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73523"/>
            <a:ext cx="5219700" cy="12192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473523"/>
            <a:ext cx="5219700" cy="12192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921323"/>
            <a:ext cx="5219700" cy="140970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921323"/>
            <a:ext cx="5219700" cy="140970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DATA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Methodology: Sources, Collection &amp; Wrangling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2749748"/>
            <a:ext cx="42862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Space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749748"/>
            <a:ext cx="476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Space Grotes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4197548"/>
            <a:ext cx="476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Space Grotesk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4197548"/>
            <a:ext cx="4857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Space Grotesk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2749748"/>
            <a:ext cx="543817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Data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100" y="3045023"/>
            <a:ext cx="4238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Stack Overflow Developer Survey (~90,000 rows), GitHub Jobs API, and Web-scraped salary tables.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2749748"/>
            <a:ext cx="5133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API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8025" y="3045023"/>
            <a:ext cx="4191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Executed REST API calls to fetch live job posting counts for key technologies into job-postings.xlsx.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725" y="4197548"/>
            <a:ext cx="53756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Web Scraping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725" y="4492823"/>
            <a:ext cx="41910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Parsed HTML tables using BeautifulSoup to extract language salary benchmarks into popular-languages.csv.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7550" y="4197548"/>
            <a:ext cx="5124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Data Wrangling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7550" y="4492823"/>
            <a:ext cx="41814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Identified &amp; removed duplicate entries, imputed missing values (median/mode), and normalized annual compensation.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06835"/>
            <a:ext cx="5181600" cy="3114675"/>
          </a:xfrm>
          <a:prstGeom prst="roundRect">
            <a:avLst>
              <a:gd name="adj" fmla="val 48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306835"/>
            <a:ext cx="5181600" cy="3114675"/>
          </a:xfrm>
          <a:prstGeom prst="roundRect">
            <a:avLst>
              <a:gd name="adj" fmla="val 48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38225" y="3202185"/>
            <a:ext cx="46291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38225" y="3659385"/>
            <a:ext cx="46291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8225" y="4116585"/>
            <a:ext cx="46291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38225" y="4573785"/>
            <a:ext cx="46291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38225" y="5030985"/>
            <a:ext cx="46291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24625" y="3202185"/>
            <a:ext cx="46291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24625" y="3659385"/>
            <a:ext cx="46291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24625" y="4116585"/>
            <a:ext cx="46291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24625" y="4573785"/>
            <a:ext cx="46291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24625" y="5030985"/>
            <a:ext cx="46291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8225" y="3202185"/>
            <a:ext cx="4629150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8225" y="3659385"/>
            <a:ext cx="3564433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8225" y="4116585"/>
            <a:ext cx="3101429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38225" y="4573785"/>
            <a:ext cx="2731144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38225" y="5030985"/>
            <a:ext cx="1296144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24625" y="3202185"/>
            <a:ext cx="4629150" cy="1143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4625" y="3659385"/>
            <a:ext cx="4351287" cy="1143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24625" y="4116585"/>
            <a:ext cx="4258716" cy="1143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24625" y="4573785"/>
            <a:ext cx="4073574" cy="1143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24625" y="5030985"/>
            <a:ext cx="3888432" cy="1143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606873"/>
            <a:ext cx="1714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606873"/>
            <a:ext cx="19050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MODULE 1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Job Demand &amp; Salary Benchmarks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5875" y="2583060"/>
            <a:ext cx="5815726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Job Openings (API - job-postings.xlsx)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1325" y="2583060"/>
            <a:ext cx="540067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Average Salary (Scraped - popular-languages.csv)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2992635"/>
            <a:ext cx="742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Python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5425" y="2992635"/>
            <a:ext cx="723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14,560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3449835"/>
            <a:ext cx="561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4450" y="3449835"/>
            <a:ext cx="685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11,230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225" y="3907035"/>
            <a:ext cx="561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Java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4450" y="3907035"/>
            <a:ext cx="6762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9,840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225" y="4364235"/>
            <a:ext cx="942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JavaScript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5450" y="4364235"/>
            <a:ext cx="666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8,620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8225" y="4821435"/>
            <a:ext cx="561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C++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4450" y="4821435"/>
            <a:ext cx="6572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4,100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4625" y="2992635"/>
            <a:ext cx="6286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Swift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67525" y="2992635"/>
            <a:ext cx="914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$125,000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3449835"/>
            <a:ext cx="742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Python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81825" y="3449835"/>
            <a:ext cx="8858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$118,000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4625" y="3907035"/>
            <a:ext cx="561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C++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0850" y="3907035"/>
            <a:ext cx="8858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$115,000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4625" y="4364235"/>
            <a:ext cx="561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Java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00850" y="4364235"/>
            <a:ext cx="895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$110,000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4625" y="4821435"/>
            <a:ext cx="942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JavaScript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81850" y="4821435"/>
            <a:ext cx="9334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$105,000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441995"/>
            <a:ext cx="5181600" cy="5162550"/>
          </a:xfrm>
          <a:prstGeom prst="roundRect">
            <a:avLst>
              <a:gd name="adj" fmla="val 29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441995"/>
            <a:ext cx="5181600" cy="5162550"/>
          </a:xfrm>
          <a:prstGeom prst="roundRect">
            <a:avLst>
              <a:gd name="adj" fmla="val 29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38225" y="2489745"/>
            <a:ext cx="260389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42121" y="2489745"/>
            <a:ext cx="202525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24625" y="2489745"/>
            <a:ext cx="249257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17198" y="2489745"/>
            <a:ext cx="213657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8225" y="2885033"/>
            <a:ext cx="26038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42121" y="2885033"/>
            <a:ext cx="2025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8225" y="3266033"/>
            <a:ext cx="26038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42121" y="3266033"/>
            <a:ext cx="2025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8225" y="3647033"/>
            <a:ext cx="26038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42121" y="3647033"/>
            <a:ext cx="2025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8225" y="4028033"/>
            <a:ext cx="26038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42121" y="4028033"/>
            <a:ext cx="2025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8225" y="4409033"/>
            <a:ext cx="26038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42121" y="4409033"/>
            <a:ext cx="2025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38225" y="4790033"/>
            <a:ext cx="26038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42121" y="4790033"/>
            <a:ext cx="2025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38225" y="5171033"/>
            <a:ext cx="26038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42121" y="5171033"/>
            <a:ext cx="2025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38225" y="5552033"/>
            <a:ext cx="26038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42121" y="5552033"/>
            <a:ext cx="2025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38225" y="5933033"/>
            <a:ext cx="26038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42121" y="5933033"/>
            <a:ext cx="2025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38225" y="6314033"/>
            <a:ext cx="26038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42121" y="6314033"/>
            <a:ext cx="20252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24625" y="2885033"/>
            <a:ext cx="249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17198" y="2885033"/>
            <a:ext cx="2136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24625" y="3266033"/>
            <a:ext cx="249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17198" y="3266033"/>
            <a:ext cx="2136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24625" y="3647033"/>
            <a:ext cx="249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17198" y="3647033"/>
            <a:ext cx="2136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24625" y="4028033"/>
            <a:ext cx="249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17198" y="4028033"/>
            <a:ext cx="2136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24625" y="4409033"/>
            <a:ext cx="249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17198" y="4409033"/>
            <a:ext cx="2136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24625" y="4790033"/>
            <a:ext cx="249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17198" y="4790033"/>
            <a:ext cx="2136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24625" y="5171033"/>
            <a:ext cx="249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17198" y="5171033"/>
            <a:ext cx="2136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24625" y="5552033"/>
            <a:ext cx="249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017198" y="5552033"/>
            <a:ext cx="2136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24625" y="5933033"/>
            <a:ext cx="249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017198" y="5933033"/>
            <a:ext cx="2136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524625" y="6314033"/>
            <a:ext cx="249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017198" y="6314033"/>
            <a:ext cx="21365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038225" y="2089695"/>
          <a:ext cx="4629149" cy="4238625"/>
        </p:xfrm>
        <a:graphic>
          <a:graphicData uri="http://schemas.openxmlformats.org/drawingml/2006/table">
            <a:tbl>
              <a:tblPr/>
              <a:tblGrid>
                <a:gridCol w="2603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5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Language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Usage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 JavaScript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67.8%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2. HTML/CSS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63.5%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 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54.4%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4. Python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41.7%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5. Java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41.1%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6. Bash/Shell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36.6%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7. C#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31.0%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8. TypeScript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21.2%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9. PHP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33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10. C++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6524625" y="2089695"/>
          <a:ext cx="4629149" cy="4238625"/>
        </p:xfrm>
        <a:graphic>
          <a:graphicData uri="http://schemas.openxmlformats.org/drawingml/2006/table">
            <a:tbl>
              <a:tblPr/>
              <a:tblGrid>
                <a:gridCol w="2492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Language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Desired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 Python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52.4%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2. JavaScript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51.3%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 HTML/CSS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44.2%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4. 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42.1%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5. TypeScript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38.5%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6. Go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35.6%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7. Java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35.0%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8. Kotlin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32.2%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9. Bash/Shell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31.5%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33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10. Rust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30.8%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TECHNOLOGY TRENDS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Programming Language Trends (Top 10)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8225" y="1718220"/>
            <a:ext cx="607575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Current Year Usage (Top 10)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4625" y="1718220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A34A"/>
                </a:solidFill>
                <a:latin typeface="Plus Jakarta Sans"/>
              </a:rPr>
              <a:t>Next Year Desired (Top 10)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480095"/>
            <a:ext cx="5181600" cy="4806404"/>
          </a:xfrm>
          <a:prstGeom prst="roundRect">
            <a:avLst>
              <a:gd name="adj" fmla="val 31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480095"/>
            <a:ext cx="5181600" cy="4806404"/>
          </a:xfrm>
          <a:prstGeom prst="roundRect">
            <a:avLst>
              <a:gd name="adj" fmla="val 317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38225" y="2632174"/>
            <a:ext cx="462915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24625" y="2632174"/>
            <a:ext cx="4629150" cy="19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STRATEGIC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Language Trends: Findings &amp; Implications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2289274"/>
            <a:ext cx="496062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289274"/>
            <a:ext cx="496062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Plus Jakarta Sans"/>
              </a:rPr>
              <a:t>Strategic Implications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2841724"/>
            <a:ext cx="47244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Python Momentum: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Surges from 4th place (41.7%) to 1st place in desired future adoption (52.4%), representing a massive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+10.7% growth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771007"/>
            <a:ext cx="47244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TypeScript Acceleration: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Jumps into the top 5 desired list (38.5%) as teams transition away from plain JavaScript for large codebase reliability.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700289"/>
            <a:ext cx="47244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Emerging Systems Languages: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High interest in Rust (30.8%) and Go (35.6%) signals strong developer intent to modernize low-level infrastructure.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2841724"/>
            <a:ext cx="47244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AI &amp; Data Pipeline Priority: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Organizations must anchor corporate training around Python to support data science, machine learning, and automation.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771007"/>
            <a:ext cx="47244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Frontend Architecture: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Teams building web applications should enforce TypeScript standards to match talent expectations and improve maintainability.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700289"/>
            <a:ext cx="47244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Hiring Pipeline Strategy: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Recruiter focus should adapt to candidates multi-skilled in Python, TypeScript, and cloud-native scripting languages.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441995"/>
            <a:ext cx="5181600" cy="5162550"/>
          </a:xfrm>
          <a:prstGeom prst="roundRect">
            <a:avLst>
              <a:gd name="adj" fmla="val 29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441995"/>
            <a:ext cx="5181600" cy="5162550"/>
          </a:xfrm>
          <a:prstGeom prst="roundRect">
            <a:avLst>
              <a:gd name="adj" fmla="val 29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38225" y="2489745"/>
            <a:ext cx="284306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81288" y="2489745"/>
            <a:ext cx="178608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24625" y="2489745"/>
            <a:ext cx="273531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259937" y="2489745"/>
            <a:ext cx="189383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8225" y="2885033"/>
            <a:ext cx="2843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81288" y="2885033"/>
            <a:ext cx="178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8225" y="3266033"/>
            <a:ext cx="2843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81288" y="3266033"/>
            <a:ext cx="178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8225" y="3647033"/>
            <a:ext cx="2843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81288" y="3647033"/>
            <a:ext cx="178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8225" y="4028033"/>
            <a:ext cx="2843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81288" y="4028033"/>
            <a:ext cx="178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8225" y="4409033"/>
            <a:ext cx="2843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81288" y="4409033"/>
            <a:ext cx="178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38225" y="4790033"/>
            <a:ext cx="2843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81288" y="4790033"/>
            <a:ext cx="178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38225" y="5171033"/>
            <a:ext cx="2843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81288" y="5171033"/>
            <a:ext cx="178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38225" y="5552033"/>
            <a:ext cx="2843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81288" y="5552033"/>
            <a:ext cx="178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38225" y="5933033"/>
            <a:ext cx="2843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81288" y="5933033"/>
            <a:ext cx="178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38225" y="6314033"/>
            <a:ext cx="2843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81288" y="6314033"/>
            <a:ext cx="178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24625" y="2885033"/>
            <a:ext cx="2735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59937" y="2885033"/>
            <a:ext cx="1893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24625" y="3266033"/>
            <a:ext cx="2735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259937" y="3266033"/>
            <a:ext cx="1893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24625" y="3647033"/>
            <a:ext cx="2735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259937" y="3647033"/>
            <a:ext cx="1893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24625" y="4028033"/>
            <a:ext cx="2735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59937" y="4028033"/>
            <a:ext cx="1893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24625" y="4409033"/>
            <a:ext cx="2735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59937" y="4409033"/>
            <a:ext cx="1893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24625" y="4790033"/>
            <a:ext cx="2735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259937" y="4790033"/>
            <a:ext cx="1893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24625" y="5171033"/>
            <a:ext cx="2735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259937" y="5171033"/>
            <a:ext cx="1893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24625" y="5552033"/>
            <a:ext cx="2735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259937" y="5552033"/>
            <a:ext cx="1893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24625" y="5933033"/>
            <a:ext cx="2735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259937" y="5933033"/>
            <a:ext cx="1893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524625" y="6314033"/>
            <a:ext cx="2735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259937" y="6314033"/>
            <a:ext cx="18938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038225" y="2089695"/>
          <a:ext cx="4629149" cy="4238625"/>
        </p:xfrm>
        <a:graphic>
          <a:graphicData uri="http://schemas.openxmlformats.org/drawingml/2006/table">
            <a:tbl>
              <a:tblPr/>
              <a:tblGrid>
                <a:gridCol w="284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Database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Usage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 MySQL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55.6%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2. PostgreSQL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34.3%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 MS SQL 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32.8%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4. SQLite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25.4%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5. MongoDB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24.6%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6. Redis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17.2%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7. MariaDB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15.8%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8. Oracle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14.1%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9. Elasticsearch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11.4%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33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10. Firebase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6524625" y="2089695"/>
          <a:ext cx="4629149" cy="4238625"/>
        </p:xfrm>
        <a:graphic>
          <a:graphicData uri="http://schemas.openxmlformats.org/drawingml/2006/table">
            <a:tbl>
              <a:tblPr/>
              <a:tblGrid>
                <a:gridCol w="2735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3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Database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Desired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 PostgreSQL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41.2%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2. MySQL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38.9%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 MongoDB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33.8%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4. Redis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26.5%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5. MS SQL 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24.5%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6. Elasticsearch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7. SQLite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8. MariaDB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14.9%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32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9. DynamoDB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14.2%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33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10. Cassandra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DATA INFRASTRUCTURE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Database Trends: Current vs. Desired (Top 10)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8225" y="1718220"/>
            <a:ext cx="607575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Current Year Usage (Top 10)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4625" y="1718220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A34A"/>
                </a:solidFill>
                <a:latin typeface="Plus Jakarta Sans"/>
              </a:rPr>
              <a:t>Next Year Desired (Top 10)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480095"/>
            <a:ext cx="5181600" cy="4806404"/>
          </a:xfrm>
          <a:prstGeom prst="roundRect">
            <a:avLst>
              <a:gd name="adj" fmla="val 31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480095"/>
            <a:ext cx="5181600" cy="4806404"/>
          </a:xfrm>
          <a:prstGeom prst="roundRect">
            <a:avLst>
              <a:gd name="adj" fmla="val 317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38225" y="2632174"/>
            <a:ext cx="462915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24625" y="2632174"/>
            <a:ext cx="4629150" cy="19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STRATEGIC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Database Trends: Findings &amp; Implications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2289274"/>
            <a:ext cx="496062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289274"/>
            <a:ext cx="496062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Plus Jakarta Sans"/>
              </a:rPr>
              <a:t>Strategic Implications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2841724"/>
            <a:ext cx="47244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PostgreSQL Shift: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PostgreSQL dethrones MySQL as the #1 desired database (41.2% vs 38.9%), establishing itself as the modern relational standard.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771007"/>
            <a:ext cx="47244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NoSQL Momentum: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MongoDB (33.8%) and Redis (26.5%) represent high non-relational demand for document caching and unstructured storage.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700289"/>
            <a:ext cx="47244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Commercial Database Stagnation: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Proprietary engines like MS SQL Server and Oracle experience flat or declining future preference.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2841724"/>
            <a:ext cx="47244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Relational Modernization: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Enterprise data architectures should default to managed PostgreSQL to reduce licensing costs and improve extensible SQL capabilities.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771007"/>
            <a:ext cx="47244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Polyglot Persistence: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Systems must blend relational SQL engines (PostgreSQL) with fast in-memory caches (Redis) and document stores (MongoDB).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700289"/>
            <a:ext cx="47244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Cloud Optimization: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Migration to open-source managed cloud databases aligns with developer preferences and talent availability.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44935"/>
            <a:ext cx="3403550" cy="3076575"/>
          </a:xfrm>
          <a:prstGeom prst="roundRect">
            <a:avLst>
              <a:gd name="adj" fmla="val 4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383035"/>
            <a:ext cx="3403550" cy="3000375"/>
          </a:xfrm>
          <a:prstGeom prst="roundRect">
            <a:avLst>
              <a:gd name="adj" fmla="val 5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383035"/>
            <a:ext cx="3403550" cy="3000375"/>
          </a:xfrm>
          <a:prstGeom prst="roundRect">
            <a:avLst>
              <a:gd name="adj" fmla="val 5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38225" y="2621160"/>
            <a:ext cx="1295400" cy="257175"/>
          </a:xfrm>
          <a:prstGeom prst="roundRect">
            <a:avLst>
              <a:gd name="adj" fmla="val 22222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38225" y="4716660"/>
            <a:ext cx="2851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70375" y="2659260"/>
            <a:ext cx="1314450" cy="257175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70375" y="4526160"/>
            <a:ext cx="2851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02525" y="2659260"/>
            <a:ext cx="1314450" cy="257175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02525" y="4526160"/>
            <a:ext cx="2851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LOOKER STUDIO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Interactive Dashboard Multi-Tab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2678310"/>
            <a:ext cx="1162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730A3"/>
                </a:solidFill>
                <a:latin typeface="Plus Jakarta Sans"/>
              </a:rPr>
              <a:t>DASHBOARD TAB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030735"/>
            <a:ext cx="37420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Current Usage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3383160"/>
            <a:ext cx="29463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Current operations remain anchored by core web front-end standards (JavaScript 67.8%, HTML 63.5%) and legacy relational databases (MySQL 55.6%).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4830960"/>
            <a:ext cx="29463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Visualizations: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 JavaScript (67.8%), MySQL (55.6%), jQuery/React WebFrames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4675" y="2716410"/>
            <a:ext cx="1181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Plus Jakarta Sans"/>
              </a:rPr>
              <a:t>DASHBOARD TAB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375" y="3068835"/>
            <a:ext cx="37420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Future Trends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0375" y="3421260"/>
            <a:ext cx="29463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Developer intent indicates a decisive pivot toward Python (52.4%), TypeScript (38.5%) and PostgreSQL (41.2%), alongside systems languages Rust/Go.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0375" y="4640460"/>
            <a:ext cx="29463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Visualizations: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 Python Desired (52.4%), PostgreSQL Desired (41.2%), Rust &amp; Go System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6825" y="2716410"/>
            <a:ext cx="1181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Plus Jakarta Sans"/>
              </a:rPr>
              <a:t>DASHBOARD TAB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525" y="3068835"/>
            <a:ext cx="37420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Demographics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525" y="3421260"/>
            <a:ext cx="29463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The workforce is heavily concentrated in early-to-mid career professionals (25-34 age bracket), with ~75% holding a Bachelor's degree or higher.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525" y="4640460"/>
            <a:ext cx="29463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Metrics: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 Age 25-34 Bracket (48%), Bachelor's/Master's Degree, Self-Taught Learners (88%)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906785"/>
            <a:ext cx="10668000" cy="119062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287910"/>
            <a:ext cx="10668000" cy="119062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669035"/>
            <a:ext cx="10668000" cy="119062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235398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616523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4997648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37" y="2387798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50" y="3768923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912" y="5150048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DASHBOARD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Discussion: Key Dashboard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225" y="2183010"/>
            <a:ext cx="10391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Usage vs. Desire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225" y="2459235"/>
            <a:ext cx="9448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Cross-referencing Tab 1 and Tab 2 reveals a clear divergence: while legacy web stacks (JavaScript, HTML, MySQL) dominate daily tasks today, developer interest is heavily shifting toward data-centric and structured tooling (Python, PostgreSQL, TypeScript).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225" y="3564135"/>
            <a:ext cx="10391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Cloud &amp; Microservices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225" y="3840360"/>
            <a:ext cx="9448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The rise in desired databases (PostgreSQL, Redis, MongoDB) in Tab 2 highlights an architectural shift toward distributed cloud microservices requiring polyglot data storage and rapid in-memory caching layers.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225" y="4945260"/>
            <a:ext cx="10391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Workforce &amp; Gender Diversity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225" y="5221485"/>
            <a:ext cx="9448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Tab 3 confirms a tech demographic dominated by professionals under 35 with high self-learning habits. However, a significant gender gap remains (~90% male), underscoring the urgent need for inclusive industry recruitment programs.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25885"/>
            <a:ext cx="5181600" cy="3114675"/>
          </a:xfrm>
          <a:prstGeom prst="roundRect">
            <a:avLst>
              <a:gd name="adj" fmla="val 48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211585"/>
            <a:ext cx="5181600" cy="3343275"/>
          </a:xfrm>
          <a:prstGeom prst="roundRect">
            <a:avLst>
              <a:gd name="adj" fmla="val 45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625923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511623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Overall Findings &amp; Industry Implications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3975" y="2602110"/>
            <a:ext cx="5775721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Overall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0375" y="2487810"/>
            <a:ext cx="5381625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Industry Implications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030735"/>
            <a:ext cx="472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Language Transition: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Technology sentiment is transitioning away from dynamic web scripting toward data science, AI, and strongly typed languages (Python, TypeScript).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868935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Open Source Database Maturity: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PostgreSQL is replacing legacy proprietary engines as the default enterprise relational choice.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478535"/>
            <a:ext cx="472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Salary Correlation: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Higher global average compensation directly correlates with niche ecosystem skills like Swift ($125k) and Python ($118k).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2916435"/>
            <a:ext cx="472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Talent Pipeline Strategy: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Companies must actively align recruiting and internal training budgets with Python and PostgreSQL to retain top developer talent.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754635"/>
            <a:ext cx="472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Infrastructure Cost Savings: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Migrating to modern open-source stacks lowers software licensing overhead while expanding cloud deployment flexibility.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592835"/>
            <a:ext cx="472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Lifelong Learning Support: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Providing formal employer-backed learning paths boosts retention among early-to-mid career developers.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85417"/>
            <a:ext cx="5219700" cy="1490662"/>
          </a:xfrm>
          <a:prstGeom prst="roundRect">
            <a:avLst>
              <a:gd name="adj" fmla="val 102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385417"/>
            <a:ext cx="5219700" cy="1490662"/>
          </a:xfrm>
          <a:prstGeom prst="roundRect">
            <a:avLst>
              <a:gd name="adj" fmla="val 102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104679"/>
            <a:ext cx="5219700" cy="1276350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104679"/>
            <a:ext cx="5219700" cy="1276350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3866554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2385417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2385417"/>
            <a:ext cx="38100" cy="149066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72175" y="2385417"/>
            <a:ext cx="9525" cy="14906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3866554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2385417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0300" y="2385417"/>
            <a:ext cx="38100" cy="149066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20475" y="2385417"/>
            <a:ext cx="9525" cy="14906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2000" y="5371504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2000" y="4104679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2000" y="4104679"/>
            <a:ext cx="38100" cy="12763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72175" y="4104679"/>
            <a:ext cx="9525" cy="127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0300" y="5371504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0300" y="4104679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0300" y="4104679"/>
            <a:ext cx="38100" cy="12763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420475" y="4104679"/>
            <a:ext cx="9525" cy="127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FINAL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Conclusions &amp; Final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" y="2661642"/>
            <a:ext cx="608826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01. Python &amp; TypeScript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2956917"/>
            <a:ext cx="4733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Adopt Python as the core analytical language and TypeScript for scalable frontend development across engineering roadmaps.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2661642"/>
            <a:ext cx="56769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02. PostgreSQL Standard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100" y="2956917"/>
            <a:ext cx="47339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Standardize relational database architectures on PostgreSQL to leverage strong developer desire and robust open-source extension capabilities.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800" y="4380904"/>
            <a:ext cx="608826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03. Polyglot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6800" y="4676179"/>
            <a:ext cx="4733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Integrate Redis for in-memory performance and MongoDB for document store flexibility alongside primary SQL databases.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5100" y="4380904"/>
            <a:ext cx="56769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04. Targeted Talent Upskilling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0" y="4676179"/>
            <a:ext cx="4733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Leverage market salary data and API demand metrics to structure competitive hiring packages and continuous learning programs.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97398"/>
            <a:ext cx="5181600" cy="1771650"/>
          </a:xfrm>
          <a:prstGeom prst="roundRect">
            <a:avLst>
              <a:gd name="adj" fmla="val 86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068835"/>
            <a:ext cx="5181600" cy="1628775"/>
          </a:xfrm>
          <a:prstGeom prst="roundRect">
            <a:avLst>
              <a:gd name="adj" fmla="val 93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297435"/>
            <a:ext cx="2190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368873"/>
            <a:ext cx="2381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3730823"/>
            <a:ext cx="1047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4007048"/>
            <a:ext cx="1428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4283273"/>
            <a:ext cx="142875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715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SUPPLEMENTARY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09625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Appendix: Data Sources &amp;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3273623"/>
            <a:ext cx="5765720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Data Artifact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8950" y="3345060"/>
            <a:ext cx="5353050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Analytics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735585"/>
            <a:ext cx="4724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Python (Pandas, BeautifulSoup, Requests), SQLite database engine, Looker Studio multi-tab dashboarding, and Matplotlib visualization libraries.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664148"/>
            <a:ext cx="5786437" cy="2762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job-postings.xlsx (GitHub Jobs API collection)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3940373"/>
            <a:ext cx="5786437" cy="27622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popular-languages.csv (Web scraping salary 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4216598"/>
            <a:ext cx="5786437" cy="27622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m5_main_surveydata.csv (Cleaned Stack Overflow dataset)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10250" y="43053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33286" y="2514600"/>
            <a:ext cx="192527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0A5FA"/>
                </a:solidFill>
                <a:latin typeface="Space Grotesk"/>
              </a:rPr>
              <a:t>END OF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21204" y="2828925"/>
            <a:ext cx="3349442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5562" y="3686175"/>
            <a:ext cx="7000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Questions &amp; Discussion | Data Analyst Capstone Project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1654</Words>
  <Application>Microsoft Office PowerPoint</Application>
  <PresentationFormat>Widescreen</PresentationFormat>
  <Paragraphs>264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Space Grotesk</vt:lpstr>
      <vt:lpstr>Arial</vt:lpstr>
      <vt:lpstr>Plus Jakarta Sans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Christian Chiari</cp:lastModifiedBy>
  <cp:revision>2</cp:revision>
  <dcterms:created xsi:type="dcterms:W3CDTF">2013-01-27T09:14:16Z</dcterms:created>
  <dcterms:modified xsi:type="dcterms:W3CDTF">2026-10-28T19:36:33Z</dcterms:modified>
  <cp:category/>
</cp:coreProperties>
</file>